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Override1.xml" ContentType="application/vnd.openxmlformats-officedocument.themeOverride+xml"/>
  <Override PartName="/ppt/theme/themeOverride2.xml" ContentType="application/vnd.openxmlformats-officedocument.themeOverride+xml"/>
  <Override PartName="/ppt/theme/themeOverride3.xml" ContentType="application/vnd.openxmlformats-officedocument.themeOverr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9" r:id="rId11"/>
    <p:sldId id="270" r:id="rId12"/>
    <p:sldId id="265" r:id="rId13"/>
    <p:sldId id="266" r:id="rId14"/>
    <p:sldId id="267" r:id="rId15"/>
    <p:sldId id="268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00" autoAdjust="0"/>
    <p:restoredTop sz="94660"/>
  </p:normalViewPr>
  <p:slideViewPr>
    <p:cSldViewPr snapToGrid="0">
      <p:cViewPr varScale="1">
        <p:scale>
          <a:sx n="65" d="100"/>
          <a:sy n="65" d="100"/>
        </p:scale>
        <p:origin x="936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58AA27-D640-209C-284B-8098B83A830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7025944-54EC-105E-2EBD-12A71F2B1B4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C24CDC-3165-151E-0168-9F7A642EE1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29F1D2-3CA9-4473-88FE-7279B0DC0180}" type="datetimeFigureOut">
              <a:rPr lang="en-ID" smtClean="0"/>
              <a:t>07/09/2026</a:t>
            </a:fld>
            <a:endParaRPr lang="en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52EA58-5986-6143-4A81-0F453E70FF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140769-7E80-46DB-91AF-63E34D4B4C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CD13CA-4FDC-4857-9578-77071BA9B15B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9916103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B40A44-AA50-0D00-1EF2-342842D764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A81EDC-D54D-76A3-A4A8-5C94919423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AC84D1-FA28-A22A-6FAE-07714C73B2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29F1D2-3CA9-4473-88FE-7279B0DC0180}" type="datetimeFigureOut">
              <a:rPr lang="en-ID" smtClean="0"/>
              <a:t>07/09/2026</a:t>
            </a:fld>
            <a:endParaRPr lang="en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34F6DF-AE80-1A97-6327-9119F62CE9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83874D-22FE-DE09-DDD0-3A02302725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CD13CA-4FDC-4857-9578-77071BA9B15B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24585938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EF5060-BB84-61E8-A390-20A4F8FAFE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181F47-C854-740E-F636-E44C8CD084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6E1ADE-E976-33D4-6DCA-2523E24219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29F1D2-3CA9-4473-88FE-7279B0DC0180}" type="datetimeFigureOut">
              <a:rPr lang="en-ID" smtClean="0"/>
              <a:t>07/09/2026</a:t>
            </a:fld>
            <a:endParaRPr lang="en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D71D36-860A-9C58-F68F-36783BCDF3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71A10E-0182-7914-9E64-DEF994BA7E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CD13CA-4FDC-4857-9578-77071BA9B15B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40010451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59D8AC-C73A-F1F6-219B-851476D794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586D22-C5A7-5EEA-6A86-3CCE8BB1A41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02AD14A-C080-4ABA-65C1-B7ED49E094D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F8B382A-D269-4418-3B2E-9BECACC29A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29F1D2-3CA9-4473-88FE-7279B0DC0180}" type="datetimeFigureOut">
              <a:rPr lang="en-ID" smtClean="0"/>
              <a:t>07/09/2026</a:t>
            </a:fld>
            <a:endParaRPr lang="en-ID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6393BD7-77AA-A349-D3E7-F9EF203A41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08B22A3-48DD-93F3-48AF-D3C0D94CE8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CD13CA-4FDC-4857-9578-77071BA9B15B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16681539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DC54A1-8E38-A555-E5DD-61CB9BEFA1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02D597-6B7E-71AD-84D1-94959EA41A2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D5F530D-8B4E-0F1A-B10D-D1DDD0FD96B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1B86C8E-D6F2-29DE-3170-B2DB94D4AF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79870AD-8CBE-FCE1-546D-8BD70B7A507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BB185CA-C909-E15B-C4C3-B951BC9D58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29F1D2-3CA9-4473-88FE-7279B0DC0180}" type="datetimeFigureOut">
              <a:rPr lang="en-ID" smtClean="0"/>
              <a:t>07/09/2026</a:t>
            </a:fld>
            <a:endParaRPr lang="en-ID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8488D27-25E9-B71D-A509-C16A46DDB5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C88F825-79ED-B49D-890E-1054004AAC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CD13CA-4FDC-4857-9578-77071BA9B15B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29328472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0843ED-BFFA-CBFC-2C97-314C15BDA4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6E9A124-BEB2-136C-9AD2-CC1D799AAB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29F1D2-3CA9-4473-88FE-7279B0DC0180}" type="datetimeFigureOut">
              <a:rPr lang="en-ID" smtClean="0"/>
              <a:t>07/09/2026</a:t>
            </a:fld>
            <a:endParaRPr lang="en-ID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B1BFF8F-BD27-2E20-6FF6-7FB1F2AA0C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AB2988-CFEB-406B-9820-D4F99CC64B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CD13CA-4FDC-4857-9578-77071BA9B15B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20093345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85DE51E-4703-902D-0CA3-6E79B4A3BB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29F1D2-3CA9-4473-88FE-7279B0DC0180}" type="datetimeFigureOut">
              <a:rPr lang="en-ID" smtClean="0"/>
              <a:t>07/09/2026</a:t>
            </a:fld>
            <a:endParaRPr lang="en-ID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86A88ED-390A-376B-09A4-22CE04534E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FCB2B8-EC50-E8A6-9C27-3CB4BE7B69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CD13CA-4FDC-4857-9578-77071BA9B15B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40643786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530F1D-14DF-8CD7-A488-E6427C2B1F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44A98A-E7EB-5388-B7FB-3976913B4E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88F8A8-8A69-2B66-B130-C347C858EDE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6E95C2A-E650-B1FE-7CE8-027ED223E8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29F1D2-3CA9-4473-88FE-7279B0DC0180}" type="datetimeFigureOut">
              <a:rPr lang="en-ID" smtClean="0"/>
              <a:t>07/09/2026</a:t>
            </a:fld>
            <a:endParaRPr lang="en-ID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51135BA-B532-B5C3-5D30-FD1AFA0A4C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BC78B9B-C86C-EBA6-49B2-C3612E69DF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CD13CA-4FDC-4857-9578-77071BA9B15B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42855621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502E8B-BBA0-DFF6-C9F6-3650FB689F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91E9A93-407C-C560-0278-4FFEEA8A1B2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D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B38CFF1-67B2-CD5C-B1AB-2802B35C35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0A674D9-E9D9-EAA4-9648-2D28FCEFA9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29F1D2-3CA9-4473-88FE-7279B0DC0180}" type="datetimeFigureOut">
              <a:rPr lang="en-ID" smtClean="0"/>
              <a:t>07/09/2026</a:t>
            </a:fld>
            <a:endParaRPr lang="en-ID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1AE634E-5AE9-2742-9DF1-F46E55A2B1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EFBC981-4B6B-CC13-9314-FE77F766F1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CD13CA-4FDC-4857-9578-77071BA9B15B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25135235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2F35F0-D4DF-7105-B608-688CDDF11B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4C8AE62-D491-200B-299A-5F541B4F4BE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945240-091A-0363-A948-96C6BA475C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29F1D2-3CA9-4473-88FE-7279B0DC0180}" type="datetimeFigureOut">
              <a:rPr lang="en-ID" smtClean="0"/>
              <a:t>07/09/2026</a:t>
            </a:fld>
            <a:endParaRPr lang="en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787AB1-D676-6A08-8227-9D903153FA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635A24-C73F-48ED-9763-845CBBCE4E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CD13CA-4FDC-4857-9578-77071BA9B15B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23595284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CA8978C-5E49-89B1-14DD-3795C26DA70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9E5E1C4-EE01-4BE7-9D61-0BAB51ED79D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79E8BA-A00D-697D-2284-D8461D5CE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29F1D2-3CA9-4473-88FE-7279B0DC0180}" type="datetimeFigureOut">
              <a:rPr lang="en-ID" smtClean="0"/>
              <a:t>07/09/2026</a:t>
            </a:fld>
            <a:endParaRPr lang="en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1A20F7-B1B9-1DF2-5E23-EAA6D37CE0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C0FEF1-E661-B737-28C9-60C83797DE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CD13CA-4FDC-4857-9578-77071BA9B15B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7283233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1392AA1-971B-F13A-42AE-B3B07D8E8A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C212DB6-151C-0F84-BBD9-62D54CB712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B0674A-8BC8-7F08-249D-6F8DB67C539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329F1D2-3CA9-4473-88FE-7279B0DC0180}" type="datetimeFigureOut">
              <a:rPr lang="en-ID" smtClean="0"/>
              <a:t>07/09/2026</a:t>
            </a:fld>
            <a:endParaRPr lang="en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D4519F-85B5-6122-B76B-8057C49C66A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4D6766-F5AD-62FB-E6D6-F393D7B2428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1CD13CA-4FDC-4857-9578-77071BA9B15B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42556254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6773BA-D611-D9E9-C5C8-3E11A211C79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ID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DEE0E3-6DE3-EF2F-542F-EEF098E5274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ID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656D768-86F4-5D50-2854-1DD8DD8246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83" y="0"/>
            <a:ext cx="12178234" cy="6858000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24919843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91F86D-6024-A432-FBDE-11D1D8CD33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9368" y="365126"/>
            <a:ext cx="9792929" cy="962229"/>
          </a:xfrm>
          <a:solidFill>
            <a:schemeClr val="accent5">
              <a:lumMod val="20000"/>
              <a:lumOff val="80000"/>
            </a:schemeClr>
          </a:solidFill>
        </p:spPr>
        <p:txBody>
          <a:bodyPr>
            <a:normAutofit/>
          </a:bodyPr>
          <a:lstStyle/>
          <a:p>
            <a:pPr algn="ctr"/>
            <a:r>
              <a:rPr lang="en-US" b="1" dirty="0"/>
              <a:t>Patient Distribution by Gender</a:t>
            </a:r>
            <a:endParaRPr lang="en-ID" b="1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FEDD19D-721F-BC8E-E3D1-379BF32505E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35277" y="1858297"/>
            <a:ext cx="7610168" cy="43186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4880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AE8733-754A-A730-643C-71A9AC305D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1097" y="398206"/>
            <a:ext cx="9615948" cy="973394"/>
          </a:xfrm>
          <a:solidFill>
            <a:schemeClr val="accent5">
              <a:lumMod val="20000"/>
              <a:lumOff val="80000"/>
            </a:schemeClr>
          </a:solidFill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b="1" dirty="0"/>
              <a:t>Age Distribution of Patients</a:t>
            </a:r>
            <a:endParaRPr lang="en-ID" b="1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C0A04BE-6D54-DC1F-C38E-E3425158E1A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48232" y="1825625"/>
            <a:ext cx="7079226" cy="41474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6825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E5901B-20EC-8220-B407-FE726A3BE7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1438" y="453616"/>
            <a:ext cx="10577053" cy="903235"/>
          </a:xfrm>
          <a:solidFill>
            <a:schemeClr val="accent5">
              <a:lumMod val="20000"/>
              <a:lumOff val="80000"/>
            </a:schemeClr>
          </a:solidFill>
        </p:spPr>
        <p:txBody>
          <a:bodyPr/>
          <a:lstStyle/>
          <a:p>
            <a:pPr algn="ctr"/>
            <a:r>
              <a:rPr lang="en-US" b="1" dirty="0"/>
              <a:t>Number of Appointments by Clinic</a:t>
            </a:r>
            <a:endParaRPr lang="en-ID" b="1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519AC07-77AC-403D-349D-52CE0337A5D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54710" y="1825625"/>
            <a:ext cx="6872748" cy="4442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02259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17C5F3-961F-DA89-3ECA-2E21E66B6F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78076" y="365126"/>
            <a:ext cx="9630697" cy="1139210"/>
          </a:xfrm>
          <a:solidFill>
            <a:schemeClr val="accent5">
              <a:lumMod val="20000"/>
              <a:lumOff val="80000"/>
            </a:schemeClr>
          </a:solidFill>
        </p:spPr>
        <p:txBody>
          <a:bodyPr/>
          <a:lstStyle/>
          <a:p>
            <a:pPr algn="ctr"/>
            <a:r>
              <a:rPr lang="en-US" b="1" dirty="0"/>
              <a:t>Appointments by Insurance Type</a:t>
            </a:r>
            <a:endParaRPr lang="en-ID" b="1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9E82E22B-52F7-99DE-E15D-431B4AD05EA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54710" y="1825625"/>
            <a:ext cx="6843251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512763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997EB5-77F0-82C4-E976-BEC0367642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6348" y="339213"/>
            <a:ext cx="9881420" cy="1032387"/>
          </a:xfrm>
          <a:solidFill>
            <a:schemeClr val="accent5">
              <a:lumMod val="20000"/>
              <a:lumOff val="80000"/>
            </a:schemeClr>
          </a:solidFill>
        </p:spPr>
        <p:txBody>
          <a:bodyPr/>
          <a:lstStyle/>
          <a:p>
            <a:pPr algn="ctr"/>
            <a:r>
              <a:rPr lang="en-US" b="1" dirty="0"/>
              <a:t>Attendance Rate by Clinic</a:t>
            </a:r>
            <a:endParaRPr lang="en-ID" b="1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D86C1BF-BCE9-200F-BDC7-0A96B31DD21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5161" y="1843548"/>
            <a:ext cx="7521677" cy="44687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88285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098FF9-64BC-6EF1-E19B-D713A6D8AE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581" y="412956"/>
            <a:ext cx="9438967" cy="1076632"/>
          </a:xfrm>
          <a:solidFill>
            <a:schemeClr val="accent5">
              <a:lumMod val="20000"/>
              <a:lumOff val="80000"/>
            </a:schemeClr>
          </a:solidFill>
        </p:spPr>
        <p:txBody>
          <a:bodyPr/>
          <a:lstStyle/>
          <a:p>
            <a:pPr algn="ctr"/>
            <a:r>
              <a:rPr lang="en-US" b="1" dirty="0"/>
              <a:t>Waiting Days by Attendance Status</a:t>
            </a:r>
            <a:endParaRPr lang="en-ID" b="1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53E753C-C432-9B49-FF6C-16F1C87D609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03987" y="1839389"/>
            <a:ext cx="7624915" cy="42221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38273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3C27D5-7031-3D59-EE72-690C6C77FC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17290" y="365125"/>
            <a:ext cx="8878529" cy="1050720"/>
          </a:xfrm>
          <a:solidFill>
            <a:schemeClr val="accent5">
              <a:lumMod val="20000"/>
              <a:lumOff val="80000"/>
            </a:schemeClr>
          </a:solidFill>
        </p:spPr>
        <p:txBody>
          <a:bodyPr>
            <a:normAutofit fontScale="90000"/>
          </a:bodyPr>
          <a:lstStyle/>
          <a:p>
            <a:pPr algn="ctr"/>
            <a:r>
              <a:rPr lang="en-US" b="1" dirty="0"/>
              <a:t>SMS Reminder vs Appointment Attendance</a:t>
            </a:r>
            <a:endParaRPr lang="en-ID" b="1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DD79043-3B22-F18D-70A8-FD9A067BFFA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62981" y="1825625"/>
            <a:ext cx="7418438" cy="43981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40146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4EC9C0-09D7-AE7C-ECDF-6B66E6E59F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7355" y="365126"/>
            <a:ext cx="9601200" cy="1021222"/>
          </a:xfrm>
          <a:solidFill>
            <a:schemeClr val="accent5">
              <a:lumMod val="20000"/>
              <a:lumOff val="80000"/>
            </a:schemeClr>
          </a:solidFill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b="1" dirty="0"/>
              <a:t>No-Show Rate by Age Group</a:t>
            </a:r>
            <a:endParaRPr lang="en-ID" b="1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6A6CA18-3660-668A-3CD1-F8CAE949C1B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72097" y="1825625"/>
            <a:ext cx="6447806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324478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37F79F-9B7F-2EF4-DBF5-D099DED6B4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80217"/>
          </a:xfrm>
          <a:solidFill>
            <a:schemeClr val="accent5">
              <a:lumMod val="40000"/>
              <a:lumOff val="60000"/>
            </a:schemeClr>
          </a:solidFill>
        </p:spPr>
        <p:txBody>
          <a:bodyPr/>
          <a:lstStyle/>
          <a:p>
            <a:pPr algn="ctr"/>
            <a:r>
              <a:rPr lang="en-US" sz="4000" b="1" dirty="0"/>
              <a:t>No-Show</a:t>
            </a:r>
            <a:r>
              <a:rPr lang="en-US" b="1" dirty="0"/>
              <a:t> Rate by Clinic</a:t>
            </a:r>
            <a:endParaRPr lang="en-ID" b="1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4C5CDD7-3B30-1FC6-280D-AD24E7231CC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6001" y="1991769"/>
            <a:ext cx="7565922" cy="4232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469972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D47796-B773-6E1F-1D8B-FB3DDB40C5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38864" y="365125"/>
            <a:ext cx="9660193" cy="1006475"/>
          </a:xfrm>
          <a:solidFill>
            <a:schemeClr val="accent1">
              <a:lumMod val="20000"/>
              <a:lumOff val="80000"/>
            </a:schemeClr>
          </a:solidFill>
        </p:spPr>
        <p:txBody>
          <a:bodyPr/>
          <a:lstStyle/>
          <a:p>
            <a:pPr algn="ctr"/>
            <a:r>
              <a:rPr lang="en-US" b="1" dirty="0"/>
              <a:t>Clinic Distance by Attendance Status</a:t>
            </a:r>
            <a:endParaRPr lang="en-ID" b="1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EFC1E9D2-5C0B-91B1-C88C-47B41A6681B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03987" y="2072722"/>
            <a:ext cx="7079226" cy="44201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540006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BF3D31-D183-8A49-E4F8-3DF396FA92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8058" cy="1080216"/>
          </a:xfrm>
          <a:solidFill>
            <a:schemeClr val="accent5">
              <a:lumMod val="20000"/>
              <a:lumOff val="80000"/>
            </a:schemeClr>
          </a:solidFill>
        </p:spPr>
        <p:txBody>
          <a:bodyPr/>
          <a:lstStyle/>
          <a:p>
            <a:pPr algn="ctr"/>
            <a:r>
              <a:rPr lang="en-US" b="1" dirty="0"/>
              <a:t>Distribution of Visit Costs</a:t>
            </a:r>
            <a:endParaRPr lang="en-ID" b="1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92BC44F-0C14-FAD4-45FB-474DF382B9A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48232" y="1915579"/>
            <a:ext cx="7742902" cy="39690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356874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C18BC0-D2AB-26DE-D4C7-A68CB98E4C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30594" y="365125"/>
            <a:ext cx="9645445" cy="1227701"/>
          </a:xfrm>
          <a:solidFill>
            <a:schemeClr val="accent5">
              <a:lumMod val="20000"/>
              <a:lumOff val="80000"/>
            </a:schemeClr>
          </a:solidFill>
        </p:spPr>
        <p:txBody>
          <a:bodyPr/>
          <a:lstStyle/>
          <a:p>
            <a:pPr algn="ctr"/>
            <a:r>
              <a:rPr lang="en-US" b="1" dirty="0"/>
              <a:t>Average Visit Cost by Appointment Type</a:t>
            </a:r>
            <a:endParaRPr lang="en-ID" b="1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1183001-F565-6932-294E-E66F2E0E2CB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53265" y="1844151"/>
            <a:ext cx="7703209" cy="43501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409833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AA7AFA-32EA-C258-BF07-AF7A618265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9368" y="365125"/>
            <a:ext cx="10235380" cy="1139209"/>
          </a:xfrm>
          <a:solidFill>
            <a:schemeClr val="accent5">
              <a:lumMod val="20000"/>
              <a:lumOff val="80000"/>
            </a:schemeClr>
          </a:solidFill>
        </p:spPr>
        <p:txBody>
          <a:bodyPr>
            <a:normAutofit fontScale="90000"/>
          </a:bodyPr>
          <a:lstStyle/>
          <a:p>
            <a:pPr algn="ctr"/>
            <a:r>
              <a:rPr lang="en-US" b="1" dirty="0"/>
              <a:t>Correlation Heatmap of Healthcare Appointment Variables</a:t>
            </a:r>
            <a:endParaRPr lang="en-ID" b="1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7CA1A8E-39AA-3A04-CEC6-0D7D43CB07F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50026" y="1825625"/>
            <a:ext cx="7580671" cy="4667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408538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DB71BFE5-850A-ACB9-8468-1F1A13FDB6B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3897" y="365125"/>
            <a:ext cx="9748683" cy="5811838"/>
          </a:xfrm>
          <a:prstGeom prst="ellipse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25696200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3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251</TotalTime>
  <Words>61</Words>
  <Application>Microsoft Office PowerPoint</Application>
  <PresentationFormat>Widescreen</PresentationFormat>
  <Paragraphs>13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Arial</vt:lpstr>
      <vt:lpstr>Calibri</vt:lpstr>
      <vt:lpstr>Calibri Light</vt:lpstr>
      <vt:lpstr>Office Theme</vt:lpstr>
      <vt:lpstr>PowerPoint Presentation</vt:lpstr>
      <vt:lpstr>Patient Distribution by Gender</vt:lpstr>
      <vt:lpstr>Age Distribution of Patients</vt:lpstr>
      <vt:lpstr>Number of Appointments by Clinic</vt:lpstr>
      <vt:lpstr>Appointments by Insurance Type</vt:lpstr>
      <vt:lpstr>Attendance Rate by Clinic</vt:lpstr>
      <vt:lpstr>Waiting Days by Attendance Status</vt:lpstr>
      <vt:lpstr>SMS Reminder vs Appointment Attendance</vt:lpstr>
      <vt:lpstr>No-Show Rate by Age Group</vt:lpstr>
      <vt:lpstr>No-Show Rate by Clinic</vt:lpstr>
      <vt:lpstr>Clinic Distance by Attendance Status</vt:lpstr>
      <vt:lpstr>Distribution of Visit Costs</vt:lpstr>
      <vt:lpstr>Average Visit Cost by Appointment Type</vt:lpstr>
      <vt:lpstr>Correlation Heatmap of Healthcare Appointment Variables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Suryatapa Mukherjee</dc:creator>
  <cp:lastModifiedBy>Suryatapa Mukherjee</cp:lastModifiedBy>
  <cp:revision>7</cp:revision>
  <dcterms:created xsi:type="dcterms:W3CDTF">2026-09-04T11:16:22Z</dcterms:created>
  <dcterms:modified xsi:type="dcterms:W3CDTF">2026-09-07T11:03:30Z</dcterms:modified>
</cp:coreProperties>
</file>